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5715000" cy="9144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846"/>
        <p:guide pos="180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雨课堂试卷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85750" y="3810000"/>
            <a:ext cx="5143500" cy="1524000"/>
          </a:xfrm>
        </p:spPr>
        <p:txBody>
          <a:bodyPr anchor="ctr" anchorCtr="1"/>
          <a:lstStyle>
            <a:lvl1pPr>
              <a:defRPr sz="2600"/>
            </a:lvl1pPr>
          </a:lstStyle>
          <a:p>
            <a:r>
              <a:rPr lang="zh-CN" altLang="en-US" smtClean="0"/>
              <a:t>请填写试卷标题</a:t>
            </a:r>
            <a:endParaRPr lang="zh-CN" altLang="en-US"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571500" rtl="0" eaLnBrk="1" fontAlgn="auto" latinLnBrk="0" hangingPunct="1">
        <a:lnSpc>
          <a:spcPct val="100000"/>
        </a:lnSpc>
        <a:spcBef>
          <a:spcPct val="0"/>
        </a:spcBef>
        <a:buNone/>
        <a:defRPr sz="225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8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142875" indent="-142875" algn="l" defTabSz="5715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80604020202020204" pitchFamily="34" charset="0"/>
        <a:buChar char="●"/>
        <a:defRPr sz="112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80604020202020204" pitchFamily="34" charset="0"/>
          <a:ea typeface="微软雅黑" panose="020B0503020204020204" pitchFamily="34" charset="-122"/>
          <a:cs typeface="+mn-cs"/>
        </a:defRPr>
      </a:lvl1pPr>
      <a:lvl2pPr marL="428625" indent="-142875" algn="l" defTabSz="5715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80604020202020204" pitchFamily="34" charset="0"/>
        <a:buChar char="●"/>
        <a:tabLst>
          <a:tab pos="1005840" algn="l"/>
          <a:tab pos="1005840" algn="l"/>
          <a:tab pos="1005840" algn="l"/>
          <a:tab pos="1005840" algn="l"/>
        </a:tabLst>
        <a:defRPr sz="10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80604020202020204" pitchFamily="34" charset="0"/>
          <a:ea typeface="微软雅黑" panose="020B0503020204020204" pitchFamily="34" charset="-122"/>
          <a:cs typeface="+mn-cs"/>
        </a:defRPr>
      </a:lvl2pPr>
      <a:lvl3pPr marL="714375" indent="-142875" algn="l" defTabSz="5715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80604020202020204" pitchFamily="34" charset="0"/>
        <a:buChar char="●"/>
        <a:defRPr sz="10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80604020202020204" pitchFamily="34" charset="0"/>
          <a:ea typeface="微软雅黑" panose="020B0503020204020204" pitchFamily="34" charset="-122"/>
          <a:cs typeface="+mn-cs"/>
        </a:defRPr>
      </a:lvl3pPr>
      <a:lvl4pPr marL="1000125" indent="-142875" algn="l" defTabSz="5715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87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80604020202020204" pitchFamily="34" charset="0"/>
          <a:ea typeface="微软雅黑" panose="020B0503020204020204" pitchFamily="34" charset="-122"/>
          <a:cs typeface="+mn-cs"/>
        </a:defRPr>
      </a:lvl4pPr>
      <a:lvl5pPr marL="1285875" indent="-142875" algn="l" defTabSz="5715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80604020202020204" pitchFamily="34" charset="0"/>
        <a:buChar char="•"/>
        <a:defRPr sz="87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80604020202020204" pitchFamily="34" charset="0"/>
          <a:ea typeface="微软雅黑" panose="020B0503020204020204" pitchFamily="34" charset="-122"/>
          <a:cs typeface="+mn-cs"/>
        </a:defRPr>
      </a:lvl5pPr>
      <a:lvl6pPr marL="1571625" indent="-142875" algn="l" defTabSz="571500" rtl="0" eaLnBrk="1" latinLnBrk="0" hangingPunct="1">
        <a:lnSpc>
          <a:spcPct val="90000"/>
        </a:lnSpc>
        <a:spcBef>
          <a:spcPct val="63000"/>
        </a:spcBef>
        <a:buFont typeface="Arial" panose="0208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6pPr>
      <a:lvl7pPr marL="1857375" indent="-142875" algn="l" defTabSz="571500" rtl="0" eaLnBrk="1" latinLnBrk="0" hangingPunct="1">
        <a:lnSpc>
          <a:spcPct val="90000"/>
        </a:lnSpc>
        <a:spcBef>
          <a:spcPct val="63000"/>
        </a:spcBef>
        <a:buFont typeface="Arial" panose="0208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7pPr>
      <a:lvl8pPr marL="2143125" indent="-142875" algn="l" defTabSz="571500" rtl="0" eaLnBrk="1" latinLnBrk="0" hangingPunct="1">
        <a:lnSpc>
          <a:spcPct val="90000"/>
        </a:lnSpc>
        <a:spcBef>
          <a:spcPct val="63000"/>
        </a:spcBef>
        <a:buFont typeface="Arial" panose="0208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8pPr>
      <a:lvl9pPr marL="2428875" indent="-142875" algn="l" defTabSz="571500" rtl="0" eaLnBrk="1" latinLnBrk="0" hangingPunct="1">
        <a:lnSpc>
          <a:spcPct val="90000"/>
        </a:lnSpc>
        <a:spcBef>
          <a:spcPct val="63000"/>
        </a:spcBef>
        <a:buFont typeface="Arial" panose="0208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1pPr>
      <a:lvl2pPr marL="28575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85725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5pPr>
      <a:lvl6pPr marL="142875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6pPr>
      <a:lvl7pPr marL="171450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7pPr>
      <a:lvl8pPr marL="200025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png"/><Relationship Id="rId8" Type="http://schemas.openxmlformats.org/officeDocument/2006/relationships/tags" Target="../tags/tag10.xml"/><Relationship Id="rId7" Type="http://schemas.openxmlformats.org/officeDocument/2006/relationships/tags" Target="../tags/tag9.xml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4" Type="http://schemas.openxmlformats.org/officeDocument/2006/relationships/tags" Target="../tags/tag6.xml"/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1" Type="http://schemas.openxmlformats.org/officeDocument/2006/relationships/slideLayout" Target="../slideLayouts/slideLayout2.xml"/><Relationship Id="rId10" Type="http://schemas.openxmlformats.org/officeDocument/2006/relationships/tags" Target="../tags/tag11.xml"/><Relationship Id="rId1" Type="http://schemas.openxmlformats.org/officeDocument/2006/relationships/tags" Target="../tags/tag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zh-CN" altLang="en-US"/>
              <a:t>第</a:t>
            </a:r>
            <a:r>
              <a:rPr lang="en-US" altLang="zh-CN"/>
              <a:t>4</a:t>
            </a:r>
            <a:r>
              <a:rPr lang="zh-CN" altLang="en-US"/>
              <a:t>章 </a:t>
            </a:r>
            <a:r>
              <a:rPr lang="en-US" altLang="zh-CN"/>
              <a:t>Numpy</a:t>
            </a:r>
            <a:r>
              <a:rPr lang="zh-CN" altLang="en-US"/>
              <a:t>运用</a:t>
            </a:r>
            <a:br>
              <a:rPr lang="zh-CN" altLang="en-US"/>
            </a:br>
            <a:r>
              <a:rPr lang="zh-CN" altLang="en-US"/>
              <a:t>课后作业</a:t>
            </a:r>
            <a:endParaRPr lang="zh-CN" altLang="en-US"/>
          </a:p>
        </p:txBody>
      </p:sp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841500" y="5842000"/>
            <a:ext cx="2032000" cy="508000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 anchorCtr="1">
            <a:noAutofit/>
          </a:bodyPr>
          <a:p>
            <a:pPr lvl="0" algn="l">
              <a:buNone/>
            </a:pPr>
            <a:r>
              <a:rPr lang="zh-CN" altLang="en-US" sz="2000">
                <a:solidFill>
                  <a:srgbClr val="000000"/>
                </a:solidFill>
              </a:rPr>
              <a:t>总分: 10</a:t>
            </a:r>
            <a:endParaRPr lang="zh-CN" altLang="en-US" sz="2000">
              <a:solidFill>
                <a:srgbClr val="000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7000" y="7874000"/>
            <a:ext cx="5461000" cy="1016000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>
            <a:noAutofit/>
          </a:bodyPr>
          <a:p>
            <a:pPr lvl="0" algn="l">
              <a:buNone/>
            </a:pPr>
            <a:r>
              <a:rPr lang="zh-CN" altLang="en-US" sz="2000">
                <a:solidFill>
                  <a:srgbClr val="FF0000"/>
                </a:solidFill>
              </a:rPr>
              <a:t>*此封面页请勿删除，删除后将无法上传至试卷库，添加菜单栏任意题型即可制作试卷。本提示将在上传时自动隐藏。</a:t>
            </a:r>
            <a:endParaRPr lang="zh-CN" altLang="en-US" sz="2000">
              <a:solidFill>
                <a:srgbClr val="FF0000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>
            <p:custDataLst>
              <p:tags r:id="rId1"/>
            </p:custDataLst>
          </p:nvPr>
        </p:nvSpPr>
        <p:spPr>
          <a:xfrm>
            <a:off x="0" y="8270875"/>
            <a:ext cx="5715000" cy="47625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>
            <a:noAutofit/>
          </a:bodyPr>
          <a:p>
            <a:pPr lvl="0" algn="l">
              <a:buNone/>
            </a:pPr>
            <a:r>
              <a:rPr lang="zh-CN" altLang="en-US" sz="15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正常使用主观题需2.0以上版本雨课堂</a:t>
            </a:r>
            <a:endParaRPr lang="zh-CN" altLang="en-US" sz="1500">
              <a:solidFill>
                <a:srgbClr val="F84F4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388620" y="853440"/>
            <a:ext cx="5083175" cy="741807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lnSpc>
                <a:spcPct val="140000"/>
              </a:lnSpc>
              <a:spcAft>
                <a:spcPts val="0"/>
              </a:spcAft>
              <a:buNone/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　　独热编码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(One-hot Encoding)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在机器学习分类问题中应用广泛。它把一个样本归属的类别序号（数字编码）转化为一个向量，向量长度为总类别数，在类别序号所在位置为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，其他位置均为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0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。例如，某样本属于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分类中的第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0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类，则用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[1,0,0]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这样的独热编码来代表，第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类用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[0,0,1]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表示。</a:t>
            </a:r>
            <a:endParaRPr lang="zh-CN" altLang="en-US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91465" lvl="0" indent="-291465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1. 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假设数据集有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10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个类，请使用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numpy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写一个独热编码函数，输入为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个样本（可用随机数产生其类别），输出为其对应的独热编码（样本数×类别数的数组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；</a:t>
            </a:r>
            <a:endParaRPr lang="zh-CN" altLang="en-US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91465" lvl="0" indent="-291465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 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再编制一个反函数，把以上得到的独热编码转化为数字类编码。</a:t>
            </a:r>
            <a:endParaRPr lang="zh-CN" altLang="en-US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要求：不能使用循环。</a:t>
            </a:r>
            <a:endParaRPr lang="zh-CN" altLang="en-US" sz="200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1104900" lvl="0" indent="-110490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提示：</a:t>
            </a:r>
            <a:r>
              <a:rPr lang="en-US" altLang="zh-CN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(1)</a:t>
            </a:r>
            <a:r>
              <a:rPr lang="zh-CN" altLang="en-US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把类别数字作为新生成的独热编码数组的序号来引用、赋值；</a:t>
            </a:r>
            <a:endParaRPr lang="zh-CN" altLang="en-US" sz="200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1071245" lvl="0" indent="-1071245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　　　</a:t>
            </a:r>
            <a:r>
              <a:rPr lang="en-US" altLang="zh-CN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(2)</a:t>
            </a:r>
            <a:r>
              <a:rPr lang="zh-CN" altLang="en-US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反函数编制时考虑</a:t>
            </a:r>
            <a:r>
              <a:rPr lang="en-US" altLang="zh-CN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where</a:t>
            </a:r>
            <a:r>
              <a:rPr lang="zh-CN" altLang="en-US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或者</a:t>
            </a:r>
            <a:r>
              <a:rPr lang="en-US" altLang="zh-CN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argmax</a:t>
            </a:r>
            <a:r>
              <a:rPr lang="zh-CN" altLang="en-US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函数。</a:t>
            </a:r>
            <a:endParaRPr lang="zh-CN" altLang="en-US" sz="200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l">
              <a:lnSpc>
                <a:spcPct val="130000"/>
              </a:lnSpc>
              <a:spcAft>
                <a:spcPts val="0"/>
              </a:spcAft>
              <a:buNone/>
            </a:pPr>
            <a:endParaRPr lang="zh-CN" altLang="en-US" sz="200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3"/>
            </p:custDataLst>
          </p:nvPr>
        </p:nvGrpSpPr>
        <p:grpSpPr>
          <a:xfrm>
            <a:off x="0" y="0"/>
            <a:ext cx="5715000" cy="635000"/>
            <a:chOff x="0" y="0"/>
            <a:chExt cx="9000" cy="1000"/>
          </a:xfrm>
        </p:grpSpPr>
        <p:sp>
          <p:nvSpPr>
            <p:cNvPr id="5" name="TitleBackground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90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5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6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主观题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7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10分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pic>
        <p:nvPicPr>
          <p:cNvPr id="3" name="图片 2" descr="tmp2267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0"/>
    </p:custDataLst>
  </p:cSld>
  <p:clrMapOvr>
    <a:masterClrMapping/>
  </p:clrMapOvr>
</p:sld>
</file>

<file path=ppt/tags/tag1.xml><?xml version="1.0" encoding="utf-8"?>
<p:tagLst xmlns:p="http://schemas.openxmlformats.org/presentationml/2006/main">
  <p:tag name="RAINPAPER" val="PaperScore"/>
</p:tagLst>
</file>

<file path=ppt/tags/tag2.xml><?xml version="1.0" encoding="utf-8"?>
<p:tagLst xmlns:p="http://schemas.openxmlformats.org/presentationml/2006/main">
  <p:tag name="RAINPAPER" val="PaperTitle"/>
</p:tagLst>
</file>

<file path=ppt/tags/tag3.xml><?xml version="1.0" encoding="utf-8"?>
<p:tagLst xmlns:p="http://schemas.openxmlformats.org/presentationml/2006/main">
  <p:tag name="PRODUCTVERSIONTIP" val="PRODUCTVERSIONTIP"/>
</p:tagLst>
</file>

<file path=ppt/tags/tag4.xml><?xml version="1.0" encoding="utf-8"?>
<p:tagLst xmlns:p="http://schemas.openxmlformats.org/presentationml/2006/main">
  <p:tag name="RAINPROBLEM" val="ProblemBody"/>
</p:tagLst>
</file>

<file path=ppt/tags/tag5.xml><?xml version="1.0" encoding="utf-8"?>
<p:tagLst xmlns:p="http://schemas.openxmlformats.org/presentationml/2006/main">
  <p:tag name="RAINPROBLEMTYPE" val="ProblemTypeMarker"/>
</p:tagLst>
</file>

<file path=ppt/tags/tag6.xml><?xml version="1.0" encoding="utf-8"?>
<p:tagLst xmlns:p="http://schemas.openxmlformats.org/presentationml/2006/main">
  <p:tag name="RAINPROBLEMTYPE" val="ProblemTypeMarker"/>
</p:tagLst>
</file>

<file path=ppt/tags/tag7.xml><?xml version="1.0" encoding="utf-8"?>
<p:tagLst xmlns:p="http://schemas.openxmlformats.org/presentationml/2006/main">
  <p:tag name="RAINPROBLEMTYPE" val="ProblemTypeMarker"/>
</p:tagLst>
</file>

<file path=ppt/tags/tag8.xml><?xml version="1.0" encoding="utf-8"?>
<p:tagLst xmlns:p="http://schemas.openxmlformats.org/presentationml/2006/main">
  <p:tag name="RAINPROBLEMTYPE" val="ProblemTypeMarker"/>
</p:tagLst>
</file>

<file path=ppt/tags/tag9.xml><?xml version="1.0" encoding="utf-8"?>
<p:tagLst xmlns:p="http://schemas.openxmlformats.org/presentationml/2006/main">
  <p:tag name="RAINPROBLEMTYPE" val="ProblemTypeMarker"/>
</p:tagLst>
</file>

<file path=ppt/tags/tag10.xml><?xml version="1.0" encoding="utf-8"?>
<p:tagLst xmlns:p="http://schemas.openxmlformats.org/presentationml/2006/main">
  <p:tag name="RAINPROBLEM" val="ProblemSetting"/>
  <p:tag name="RAINPROBLEMTYPE" val="ShortAnswer"/>
</p:tagLst>
</file>

<file path=ppt/tags/tag11.xml><?xml version="1.0" encoding="utf-8"?>
<p:tagLst xmlns:p="http://schemas.openxmlformats.org/presentationml/2006/main">
  <p:tag name="RAINPROBLEM" val="ShortAnswer"/>
  <p:tag name="PROBLEMSCORE" val="10.0"/>
  <p:tag name="PROBLEMVOICEALLOWED" val="False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425</Words>
  <Application>WPS 演示</Application>
  <PresentationFormat>宽屏</PresentationFormat>
  <Paragraphs>20</Paragraphs>
  <Slides>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3" baseType="lpstr">
      <vt:lpstr>Arial</vt:lpstr>
      <vt:lpstr>宋体</vt:lpstr>
      <vt:lpstr>Wingdings</vt:lpstr>
      <vt:lpstr>Times New Roman</vt:lpstr>
      <vt:lpstr>微软雅黑</vt:lpstr>
      <vt:lpstr>黑体</vt:lpstr>
      <vt:lpstr>Wingdings</vt:lpstr>
      <vt:lpstr>Arial Unicode MS</vt:lpstr>
      <vt:lpstr>Calibri</vt:lpstr>
      <vt:lpstr>DejaVu Sans</vt:lpstr>
      <vt:lpstr>Office 主题​​</vt:lpstr>
      <vt:lpstr>第4章 Numpy运用 课后作业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张群飞</dc:creator>
  <cp:lastModifiedBy>张群飞</cp:lastModifiedBy>
  <cp:revision>156</cp:revision>
  <dcterms:created xsi:type="dcterms:W3CDTF">2023-11-08T07:07:49Z</dcterms:created>
  <dcterms:modified xsi:type="dcterms:W3CDTF">2023-11-08T07:07:49Z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2052-11.1.0.11708</vt:lpwstr>
  </property>
  <property fmtid="{D5CDD505-2E9C-101B-9397-08002B2CF9AE}" pid="3" name="ICV">
    <vt:lpwstr/>
  </property>
</Properties>
</file>